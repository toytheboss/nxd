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666666"/>
                </a:solidFill>
              </a:defRPr>
            </a:pPr>
            <a:r>
              <a:t>产品调研 · SATURN CREDIT</a:t>
            </a:r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t>Strategies 积分策略分析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风格对齐版（暗色卡片 + 协议色高亮）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64646"/>
                </a:solidFill>
              </a:defRPr>
            </a:pPr>
            <a:r>
              <a:t>Source: https://app.saturn.credit/strategies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666666"/>
                </a:solidFill>
              </a:defRPr>
            </a:pPr>
            <a:r>
              <a:t>SUMMARY</a:t>
            </a:r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t>核心指标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总览路由规模、协议分布与最高积分倍率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2606040" cy="1828800"/>
          </a:xfrm>
          <a:prstGeom prst="roundRect">
            <a:avLst>
              <a:gd name="adj" fmla="val 3000"/>
            </a:avLst>
          </a:prstGeom>
          <a:solidFill>
            <a:srgbClr val="111111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总策略数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t>18</a:t>
            </a:r>
          </a:p>
          <a:p>
            <a:pPr>
              <a:defRPr sz="1000">
                <a:solidFill>
                  <a:srgbClr val="666666"/>
                </a:solidFill>
              </a:defRPr>
            </a:pPr>
            <a:r>
              <a:t>覆盖 5 大协议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6432" y="1645920"/>
            <a:ext cx="2606040" cy="1828800"/>
          </a:xfrm>
          <a:prstGeom prst="roundRect">
            <a:avLst>
              <a:gd name="adj" fmla="val 3000"/>
            </a:avLst>
          </a:prstGeom>
          <a:solidFill>
            <a:srgbClr val="111111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最高积分倍率</a:t>
            </a:r>
          </a:p>
          <a:p>
            <a:pPr>
              <a:defRPr sz="3000" b="1">
                <a:solidFill>
                  <a:srgbClr val="F97316"/>
                </a:solidFill>
              </a:defRPr>
            </a:pPr>
            <a:r>
              <a:t>30×</a:t>
            </a:r>
          </a:p>
          <a:p>
            <a:pPr>
              <a:defRPr sz="1000">
                <a:solidFill>
                  <a:srgbClr val="666666"/>
                </a:solidFill>
              </a:defRPr>
            </a:pPr>
            <a:r>
              <a:t>Pendle yt-USDat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72784" y="1645920"/>
            <a:ext cx="2606040" cy="1828800"/>
          </a:xfrm>
          <a:prstGeom prst="roundRect">
            <a:avLst>
              <a:gd name="adj" fmla="val 3000"/>
            </a:avLst>
          </a:prstGeom>
          <a:solidFill>
            <a:srgbClr val="111111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代币类型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t>2</a:t>
            </a:r>
          </a:p>
          <a:p>
            <a:pPr>
              <a:defRPr sz="1000">
                <a:solidFill>
                  <a:srgbClr val="666666"/>
                </a:solidFill>
              </a:defRPr>
            </a:pPr>
            <a:r>
              <a:t>USDat · sUSDat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9136" y="1645920"/>
            <a:ext cx="2606040" cy="1828800"/>
          </a:xfrm>
          <a:prstGeom prst="roundRect">
            <a:avLst>
              <a:gd name="adj" fmla="val 3000"/>
            </a:avLst>
          </a:prstGeom>
          <a:solidFill>
            <a:srgbClr val="111111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集成协议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t>5</a:t>
            </a:r>
          </a:p>
          <a:p>
            <a:pPr>
              <a:defRPr sz="1000">
                <a:solidFill>
                  <a:srgbClr val="666666"/>
                </a:solidFill>
              </a:defRPr>
            </a:pPr>
            <a:r>
              <a:t>Saturn · Curve · Pendle · Morpho · Strata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666666"/>
                </a:solidFill>
              </a:defRPr>
            </a:pPr>
            <a:r>
              <a:t>PROTOCOL BREAKDOWN</a:t>
            </a:r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t>协议分布与最高倍率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颜色映射按原页面协议风格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2743200" cy="1828800"/>
          </a:xfrm>
          <a:prstGeom prst="roundRect">
            <a:avLst>
              <a:gd name="adj" fmla="val 3000"/>
            </a:avLst>
          </a:prstGeom>
          <a:solidFill>
            <a:srgbClr val="111111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97316"/>
                </a:solidFill>
              </a:defRPr>
            </a:pPr>
            <a:r>
              <a:t>Saturn</a:t>
            </a:r>
          </a:p>
          <a:p>
            <a:pPr>
              <a:defRPr sz="1000">
                <a:solidFill>
                  <a:srgbClr val="666666"/>
                </a:solidFill>
              </a:defRPr>
            </a:pPr>
            <a:r>
              <a:t>2 routes</a:t>
            </a:r>
          </a:p>
          <a:p>
            <a:pPr>
              <a:defRPr sz="2800" b="1">
                <a:solidFill>
                  <a:srgbClr val="F97316"/>
                </a:solidFill>
              </a:defRPr>
            </a:pPr>
            <a:r>
              <a:t>7×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1645920"/>
            <a:ext cx="2743200" cy="1828800"/>
          </a:xfrm>
          <a:prstGeom prst="roundRect">
            <a:avLst>
              <a:gd name="adj" fmla="val 3000"/>
            </a:avLst>
          </a:prstGeom>
          <a:solidFill>
            <a:srgbClr val="111111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818CF8"/>
                </a:solidFill>
              </a:defRPr>
            </a:pPr>
            <a:r>
              <a:t>Curve</a:t>
            </a:r>
          </a:p>
          <a:p>
            <a:pPr>
              <a:defRPr sz="1000">
                <a:solidFill>
                  <a:srgbClr val="666666"/>
                </a:solidFill>
              </a:defRPr>
            </a:pPr>
            <a:r>
              <a:t>4 routes</a:t>
            </a:r>
          </a:p>
          <a:p>
            <a:pPr>
              <a:defRPr sz="2800" b="1">
                <a:solidFill>
                  <a:srgbClr val="818CF8"/>
                </a:solidFill>
              </a:defRPr>
            </a:pPr>
            <a:r>
              <a:t>20×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645920"/>
            <a:ext cx="2743200" cy="1828800"/>
          </a:xfrm>
          <a:prstGeom prst="roundRect">
            <a:avLst>
              <a:gd name="adj" fmla="val 3000"/>
            </a:avLst>
          </a:prstGeom>
          <a:solidFill>
            <a:srgbClr val="111111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2D3EE"/>
                </a:solidFill>
              </a:defRPr>
            </a:pPr>
            <a:r>
              <a:t>Pendle</a:t>
            </a:r>
          </a:p>
          <a:p>
            <a:pPr>
              <a:defRPr sz="1000">
                <a:solidFill>
                  <a:srgbClr val="666666"/>
                </a:solidFill>
              </a:defRPr>
            </a:pPr>
            <a:r>
              <a:t>8 routes</a:t>
            </a:r>
          </a:p>
          <a:p>
            <a:pPr>
              <a:defRPr sz="2800" b="1">
                <a:solidFill>
                  <a:srgbClr val="22D3EE"/>
                </a:solidFill>
              </a:defRPr>
            </a:pPr>
            <a:r>
              <a:t>30×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840480"/>
            <a:ext cx="2743200" cy="1828800"/>
          </a:xfrm>
          <a:prstGeom prst="roundRect">
            <a:avLst>
              <a:gd name="adj" fmla="val 3000"/>
            </a:avLst>
          </a:prstGeom>
          <a:solidFill>
            <a:srgbClr val="111111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Morpho</a:t>
            </a:r>
          </a:p>
          <a:p>
            <a:pPr>
              <a:defRPr sz="1000">
                <a:solidFill>
                  <a:srgbClr val="666666"/>
                </a:solidFill>
              </a:defRPr>
            </a:pPr>
            <a:r>
              <a:t>2 routes</a:t>
            </a:r>
          </a:p>
          <a:p>
            <a:pPr>
              <a:defRPr sz="2800" b="1">
                <a:solidFill>
                  <a:srgbClr val="10B981"/>
                </a:solidFill>
              </a:defRPr>
            </a:pPr>
            <a:r>
              <a:t>2×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3840480"/>
            <a:ext cx="2743200" cy="1828800"/>
          </a:xfrm>
          <a:prstGeom prst="roundRect">
            <a:avLst>
              <a:gd name="adj" fmla="val 3000"/>
            </a:avLst>
          </a:prstGeom>
          <a:solidFill>
            <a:srgbClr val="111111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BBF24"/>
                </a:solidFill>
              </a:defRPr>
            </a:pPr>
            <a:r>
              <a:t>Strata</a:t>
            </a:r>
          </a:p>
          <a:p>
            <a:pPr>
              <a:defRPr sz="1000">
                <a:solidFill>
                  <a:srgbClr val="666666"/>
                </a:solidFill>
              </a:defRPr>
            </a:pPr>
            <a:r>
              <a:t>2 routes</a:t>
            </a:r>
          </a:p>
          <a:p>
            <a:pPr>
              <a:defRPr sz="2800" b="1">
                <a:solidFill>
                  <a:srgbClr val="FBBF24"/>
                </a:solidFill>
              </a:defRPr>
            </a:pPr>
            <a:r>
              <a:t>3×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666666"/>
                </a:solidFill>
              </a:defRPr>
            </a:pPr>
            <a:r>
              <a:t>TOP STRATEGIES</a:t>
            </a:r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t>高积分策略排行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按 points multiplier 降序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64592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787878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787878"/>
                          </a:solidFill>
                        </a:defRPr>
                      </a:pPr>
                      <a:r>
                        <a:t>Route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787878"/>
                          </a:solidFill>
                        </a:defRPr>
                      </a:pPr>
                      <a:r>
                        <a:t>Protocol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787878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787878"/>
                          </a:solidFill>
                        </a:defRPr>
                      </a:pPr>
                      <a:r>
                        <a:t>Points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5E5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Pendle Hold yt-USDat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D3EE"/>
                          </a:solidFill>
                        </a:defRPr>
                      </a:pPr>
                      <a:r>
                        <a:t>Pendle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5E5"/>
                          </a:solidFill>
                        </a:defRPr>
                      </a:pPr>
                      <a:r>
                        <a:t>Buy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97316"/>
                          </a:solidFill>
                        </a:defRPr>
                      </a:pPr>
                      <a:r>
                        <a:t>30×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5E5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Curve LP - USDC/USDat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18CF8"/>
                          </a:solidFill>
                        </a:defRPr>
                      </a:pPr>
                      <a:r>
                        <a:t>Curve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5E5"/>
                          </a:solidFill>
                        </a:defRPr>
                      </a:pPr>
                      <a:r>
                        <a:t>LP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97316"/>
                          </a:solidFill>
                        </a:defRPr>
                      </a:pPr>
                      <a:r>
                        <a:t>20×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5E5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Stake Curve LP - USDC / USDat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18CF8"/>
                          </a:solidFill>
                        </a:defRPr>
                      </a:pPr>
                      <a:r>
                        <a:t>Curve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5E5"/>
                          </a:solidFill>
                        </a:defRPr>
                      </a:pPr>
                      <a:r>
                        <a:t>Stake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97316"/>
                          </a:solidFill>
                        </a:defRPr>
                      </a:pPr>
                      <a:r>
                        <a:t>20×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5E5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Curve LP - USDC/sUSDat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18CF8"/>
                          </a:solidFill>
                        </a:defRPr>
                      </a:pPr>
                      <a:r>
                        <a:t>Curve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5E5"/>
                          </a:solidFill>
                        </a:defRPr>
                      </a:pPr>
                      <a:r>
                        <a:t>LP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BBF24"/>
                          </a:solidFill>
                        </a:defRPr>
                      </a:pPr>
                      <a:r>
                        <a:t>18×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5E5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Stake Curve LP - USDC / sUSDat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18CF8"/>
                          </a:solidFill>
                        </a:defRPr>
                      </a:pPr>
                      <a:r>
                        <a:t>Curve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5E5"/>
                          </a:solidFill>
                        </a:defRPr>
                      </a:pPr>
                      <a:r>
                        <a:t>Stake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BBF24"/>
                          </a:solidFill>
                        </a:defRPr>
                      </a:pPr>
                      <a:r>
                        <a:t>18×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5E5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Pendle LP - USDat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D3EE"/>
                          </a:solidFill>
                        </a:defRPr>
                      </a:pPr>
                      <a:r>
                        <a:t>Pendle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5E5"/>
                          </a:solidFill>
                        </a:defRPr>
                      </a:pPr>
                      <a:r>
                        <a:t>LP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BBF24"/>
                          </a:solidFill>
                        </a:defRPr>
                      </a:pPr>
                      <a:r>
                        <a:t>15×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5E5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Pendle Hold yt-srUSDat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D3EE"/>
                          </a:solidFill>
                        </a:defRPr>
                      </a:pPr>
                      <a:r>
                        <a:t>Pendle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5E5"/>
                          </a:solidFill>
                        </a:defRPr>
                      </a:pPr>
                      <a:r>
                        <a:t>Buy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BBF24"/>
                          </a:solidFill>
                        </a:defRPr>
                      </a:pPr>
                      <a:r>
                        <a:t>15×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5E5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Pendle Hold yt-sUSDat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D3EE"/>
                          </a:solidFill>
                        </a:defRPr>
                      </a:pPr>
                      <a:r>
                        <a:t>Pendle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5E5"/>
                          </a:solidFill>
                        </a:defRPr>
                      </a:pPr>
                      <a:r>
                        <a:t>Buy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BBF24"/>
                          </a:solidFill>
                        </a:defRPr>
                      </a:pPr>
                      <a:r>
                        <a:t>10×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666666"/>
                </a:solidFill>
              </a:defRPr>
            </a:pPr>
            <a:r>
              <a:t>FULL LIST</a:t>
            </a:r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t>全部策略清单（18条）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Token / Protocol / Action / Points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325880"/>
          <a:ext cx="116128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269507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787878"/>
                          </a:solidFill>
                        </a:defRPr>
                      </a:pPr>
                      <a:r>
                        <a:t>Route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787878"/>
                          </a:solidFill>
                        </a:defRPr>
                      </a:pPr>
                      <a:r>
                        <a:t>Token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787878"/>
                          </a:solidFill>
                        </a:defRPr>
                      </a:pPr>
                      <a:r>
                        <a:t>Protocol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787878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787878"/>
                          </a:solidFill>
                        </a:defRPr>
                      </a:pPr>
                      <a:r>
                        <a:t>Points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Hold USDat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5E5"/>
                          </a:solidFill>
                        </a:defRPr>
                      </a:pPr>
                      <a:r>
                        <a:t>USDat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97316"/>
                          </a:solidFill>
                        </a:defRPr>
                      </a:pPr>
                      <a:r>
                        <a:t>Saturn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5E5"/>
                          </a:solidFill>
                        </a:defRPr>
                      </a:pPr>
                      <a:r>
                        <a:t>Buy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B7280"/>
                          </a:solidFill>
                        </a:defRPr>
                      </a:pPr>
                      <a:r>
                        <a:t>7×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Hold sUSDat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5E5"/>
                          </a:solidFill>
                        </a:defRPr>
                      </a:pPr>
                      <a:r>
                        <a:t>sUSDat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97316"/>
                          </a:solidFill>
                        </a:defRPr>
                      </a:pPr>
                      <a:r>
                        <a:t>Saturn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5E5"/>
                          </a:solidFill>
                        </a:defRPr>
                      </a:pPr>
                      <a:r>
                        <a:t>Stake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B7280"/>
                          </a:solidFill>
                        </a:defRPr>
                      </a:pPr>
                      <a:r>
                        <a:t>1×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Curve LP - USDC/USDat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5E5"/>
                          </a:solidFill>
                        </a:defRPr>
                      </a:pPr>
                      <a:r>
                        <a:t>USDat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818CF8"/>
                          </a:solidFill>
                        </a:defRPr>
                      </a:pPr>
                      <a:r>
                        <a:t>Curve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5E5"/>
                          </a:solidFill>
                        </a:defRPr>
                      </a:pPr>
                      <a:r>
                        <a:t>LP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97316"/>
                          </a:solidFill>
                        </a:defRPr>
                      </a:pPr>
                      <a:r>
                        <a:t>20×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Stake Curve LP - USDC / USDat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5E5"/>
                          </a:solidFill>
                        </a:defRPr>
                      </a:pPr>
                      <a:r>
                        <a:t>USDat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818CF8"/>
                          </a:solidFill>
                        </a:defRPr>
                      </a:pPr>
                      <a:r>
                        <a:t>Curve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5E5"/>
                          </a:solidFill>
                        </a:defRPr>
                      </a:pPr>
                      <a:r>
                        <a:t>Stake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97316"/>
                          </a:solidFill>
                        </a:defRPr>
                      </a:pPr>
                      <a:r>
                        <a:t>20×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Curve LP - USDC/sUSDat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5E5"/>
                          </a:solidFill>
                        </a:defRPr>
                      </a:pPr>
                      <a:r>
                        <a:t>sUSDat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818CF8"/>
                          </a:solidFill>
                        </a:defRPr>
                      </a:pPr>
                      <a:r>
                        <a:t>Curve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5E5"/>
                          </a:solidFill>
                        </a:defRPr>
                      </a:pPr>
                      <a:r>
                        <a:t>LP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BBF24"/>
                          </a:solidFill>
                        </a:defRPr>
                      </a:pPr>
                      <a:r>
                        <a:t>18×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Stake Curve LP - USDC / sUSDat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5E5"/>
                          </a:solidFill>
                        </a:defRPr>
                      </a:pPr>
                      <a:r>
                        <a:t>sUSDat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818CF8"/>
                          </a:solidFill>
                        </a:defRPr>
                      </a:pPr>
                      <a:r>
                        <a:t>Curve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5E5"/>
                          </a:solidFill>
                        </a:defRPr>
                      </a:pPr>
                      <a:r>
                        <a:t>Stake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BBF24"/>
                          </a:solidFill>
                        </a:defRPr>
                      </a:pPr>
                      <a:r>
                        <a:t>18×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Pendle LP - USDat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5E5"/>
                          </a:solidFill>
                        </a:defRPr>
                      </a:pPr>
                      <a:r>
                        <a:t>USDat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D3EE"/>
                          </a:solidFill>
                        </a:defRPr>
                      </a:pPr>
                      <a:r>
                        <a:t>Pendle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5E5"/>
                          </a:solidFill>
                        </a:defRPr>
                      </a:pPr>
                      <a:r>
                        <a:t>LP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BBF24"/>
                          </a:solidFill>
                        </a:defRPr>
                      </a:pPr>
                      <a:r>
                        <a:t>15×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Pendle Hold yt-USDat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5E5"/>
                          </a:solidFill>
                        </a:defRPr>
                      </a:pPr>
                      <a:r>
                        <a:t>USDat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D3EE"/>
                          </a:solidFill>
                        </a:defRPr>
                      </a:pPr>
                      <a:r>
                        <a:t>Pendle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5E5"/>
                          </a:solidFill>
                        </a:defRPr>
                      </a:pPr>
                      <a:r>
                        <a:t>Buy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97316"/>
                          </a:solidFill>
                        </a:defRPr>
                      </a:pPr>
                      <a:r>
                        <a:t>30×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Pendle LP - sUSDat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5E5"/>
                          </a:solidFill>
                        </a:defRPr>
                      </a:pPr>
                      <a:r>
                        <a:t>sUSDat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D3EE"/>
                          </a:solidFill>
                        </a:defRPr>
                      </a:pPr>
                      <a:r>
                        <a:t>Pendle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5E5"/>
                          </a:solidFill>
                        </a:defRPr>
                      </a:pPr>
                      <a:r>
                        <a:t>LP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B7280"/>
                          </a:solidFill>
                        </a:defRPr>
                      </a:pPr>
                      <a:r>
                        <a:t>5×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Pendle Hold yt-sUSDat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5E5"/>
                          </a:solidFill>
                        </a:defRPr>
                      </a:pPr>
                      <a:r>
                        <a:t>sUSDat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D3EE"/>
                          </a:solidFill>
                        </a:defRPr>
                      </a:pPr>
                      <a:r>
                        <a:t>Pendle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5E5"/>
                          </a:solidFill>
                        </a:defRPr>
                      </a:pPr>
                      <a:r>
                        <a:t>Buy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BBF24"/>
                          </a:solidFill>
                        </a:defRPr>
                      </a:pPr>
                      <a:r>
                        <a:t>10×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Pendle LP - srUSDat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5E5"/>
                          </a:solidFill>
                        </a:defRPr>
                      </a:pPr>
                      <a:r>
                        <a:t>sUSDat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D3EE"/>
                          </a:solidFill>
                        </a:defRPr>
                      </a:pPr>
                      <a:r>
                        <a:t>Pendle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5E5"/>
                          </a:solidFill>
                        </a:defRPr>
                      </a:pPr>
                      <a:r>
                        <a:t>Buy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B7280"/>
                          </a:solidFill>
                        </a:defRPr>
                      </a:pPr>
                      <a:r>
                        <a:t>7.5×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Pendle Hold yt-srUSDat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5E5"/>
                          </a:solidFill>
                        </a:defRPr>
                      </a:pPr>
                      <a:r>
                        <a:t>sUSDat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D3EE"/>
                          </a:solidFill>
                        </a:defRPr>
                      </a:pPr>
                      <a:r>
                        <a:t>Pendle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5E5"/>
                          </a:solidFill>
                        </a:defRPr>
                      </a:pPr>
                      <a:r>
                        <a:t>Buy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BBF24"/>
                          </a:solidFill>
                        </a:defRPr>
                      </a:pPr>
                      <a:r>
                        <a:t>15×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Pendle LP - jrUSDat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5E5"/>
                          </a:solidFill>
                        </a:defRPr>
                      </a:pPr>
                      <a:r>
                        <a:t>sUSDat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D3EE"/>
                          </a:solidFill>
                        </a:defRPr>
                      </a:pPr>
                      <a:r>
                        <a:t>Pendle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5E5"/>
                          </a:solidFill>
                        </a:defRPr>
                      </a:pPr>
                      <a:r>
                        <a:t>Buy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B7280"/>
                          </a:solidFill>
                        </a:defRPr>
                      </a:pPr>
                      <a:r>
                        <a:t>5×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Pendle Hold yt-jrUSDat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5E5"/>
                          </a:solidFill>
                        </a:defRPr>
                      </a:pPr>
                      <a:r>
                        <a:t>sUSDat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D3EE"/>
                          </a:solidFill>
                        </a:defRPr>
                      </a:pPr>
                      <a:r>
                        <a:t>Pendle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5E5"/>
                          </a:solidFill>
                        </a:defRPr>
                      </a:pPr>
                      <a:r>
                        <a:t>Buy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BBF24"/>
                          </a:solidFill>
                        </a:defRPr>
                      </a:pPr>
                      <a:r>
                        <a:t>10×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Supply sUSDat as Collateral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5E5"/>
                          </a:solidFill>
                        </a:defRPr>
                      </a:pPr>
                      <a:r>
                        <a:t>sUSDat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0B981"/>
                          </a:solidFill>
                        </a:defRPr>
                      </a:pPr>
                      <a:r>
                        <a:t>Morpho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5E5"/>
                          </a:solidFill>
                        </a:defRPr>
                      </a:pPr>
                      <a:r>
                        <a:t>Lend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B7280"/>
                          </a:solidFill>
                        </a:defRPr>
                      </a:pPr>
                      <a:r>
                        <a:t>2×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Lend AUSD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5E5"/>
                          </a:solidFill>
                        </a:defRPr>
                      </a:pPr>
                      <a:r>
                        <a:t>sUSDat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0B981"/>
                          </a:solidFill>
                        </a:defRPr>
                      </a:pPr>
                      <a:r>
                        <a:t>Morpho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5E5"/>
                          </a:solidFill>
                        </a:defRPr>
                      </a:pPr>
                      <a:r>
                        <a:t>Lend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B7280"/>
                          </a:solidFill>
                        </a:defRPr>
                      </a:pPr>
                      <a:r>
                        <a:t>1×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Hold srUSDat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5E5"/>
                          </a:solidFill>
                        </a:defRPr>
                      </a:pPr>
                      <a:r>
                        <a:t>sUSDat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BBF24"/>
                          </a:solidFill>
                        </a:defRPr>
                      </a:pPr>
                      <a:r>
                        <a:t>Strata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5E5"/>
                          </a:solidFill>
                        </a:defRPr>
                      </a:pPr>
                      <a:r>
                        <a:t>Hold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B7280"/>
                          </a:solidFill>
                        </a:defRPr>
                      </a:pPr>
                      <a:r>
                        <a:t>1×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26951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Hold jrUSDat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5E5"/>
                          </a:solidFill>
                        </a:defRPr>
                      </a:pPr>
                      <a:r>
                        <a:t>sUSDat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BBF24"/>
                          </a:solidFill>
                        </a:defRPr>
                      </a:pPr>
                      <a:r>
                        <a:t>Strata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5E5E5"/>
                          </a:solidFill>
                        </a:defRPr>
                      </a:pPr>
                      <a:r>
                        <a:t>Hold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B7280"/>
                          </a:solidFill>
                        </a:defRPr>
                      </a:pPr>
                      <a:r>
                        <a:t>3×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